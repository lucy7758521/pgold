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843"/>
                </a:solidFill>
                <a:latin typeface="PingFang SC"/>
              </a:defRPr>
            </a:pPr>
            <a:r>
              <a:t>pGOLD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6EDF3"/>
                </a:solidFill>
                <a:latin typeface="PingFang SC"/>
              </a:defRPr>
            </a:pPr>
            <a:r>
              <a:t>黄金锚定链上交易协议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PingFang SC"/>
              </a:defRPr>
            </a:pPr>
            <a:r>
              <a:t>1 pGOLD = 1 克黄金  |  可验证储备  |  链上交易与结算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6914"/>
                </a:solidFill>
                <a:latin typeface="PingFang SC"/>
              </a:defRPr>
            </a:pPr>
            <a:r>
              <a:t>路演材料  V3.0  |  2026 年 6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本材料基于可审计数学模型。所有前瞻性陈述受假设条件约束。不构成投资建议。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黄金的数字化困境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问题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实物黄金交易摩擦极大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299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跨境运输、海关、保险、仓储 — 每单成本 $200+，耗时 5-15 天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问题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535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现有黄金 ETF 门槛高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仅限证券账户、交易时间受限、无法 7x24 链上结算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13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问题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87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链上黄金代币信任危机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988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多数项目储备证明不透明，存在重复质押风险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48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问题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22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缺乏交易激励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332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持有者被动等待金价上涨，无活跃交易生态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pGOLD 协议如何解决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5331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1 pGOLD = 1 克黄金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实物黄金在 LBMA 认证金库托管，每日 Merkle 树储备证明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105156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591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0.5% 手续费 + 四轨激励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974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交易产生手续费，手续费回购黄金扩储备。用户通过交易排名和亏损补偿获取奖励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105156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649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7x24 链上交易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033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基于高性能 L2，全天候交易、即时结算、可编程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708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5 账户法律隔离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709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用户本金、黄金储备、运营资金、奖励池、应急储备严格分离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7667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利润瀑布 + 自动安全阀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715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收入优先覆盖运营和储备 → 有盈余才到分红 → 不达标自动暂停奖励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协议如何赚钱 — 真实收入来源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91D"/>
                </a:solidFill>
                <a:latin typeface="PingFang SC"/>
              </a:defRPr>
            </a:pPr>
            <a:r>
              <a:t>唯一收入: 0.5% 交易手续费（真金白银，非代币增发）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6EDF3"/>
                </a:solidFill>
                <a:latin typeface="PingFang SC"/>
              </a:defRPr>
            </a:pPr>
            <a:r>
              <a:t>年手续费收入 = 年交易量 × 0.5%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231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PingFang SC"/>
              </a:defRPr>
            </a:pPr>
            <a:r>
              <a:t>示例: 年交易量 $18B (日 $50M) → 年手续费 $90M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单位经济学: 每 $1M 交易量的成本与利润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474720"/>
            <a:ext cx="91440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511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PingFang SC"/>
              </a:defRPr>
            </a:pPr>
            <a:r>
              <a:t>手续费收入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112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FB950"/>
                </a:solidFill>
                <a:latin typeface="PingFang SC"/>
              </a:defRPr>
            </a:pPr>
            <a:r>
              <a:t>$5,000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5112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FB950"/>
                </a:solidFill>
                <a:latin typeface="PingFang SC"/>
              </a:defRPr>
            </a:pPr>
            <a:r>
              <a:t>0.500%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886200"/>
            <a:ext cx="91440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9227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PingFang SC"/>
              </a:defRPr>
            </a:pPr>
            <a:r>
              <a:t>做市成本 (AMM + CEX)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22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85149"/>
                </a:solidFill>
                <a:latin typeface="PingFang SC"/>
              </a:defRPr>
            </a:pPr>
            <a:r>
              <a:t>-$500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9227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85149"/>
                </a:solidFill>
                <a:latin typeface="PingFang SC"/>
              </a:defRPr>
            </a:pPr>
            <a:r>
              <a:t>0.050%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297680"/>
            <a:ext cx="91440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3342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PingFang SC"/>
              </a:defRPr>
            </a:pPr>
            <a:r>
              <a:t>Gas / 链上成本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34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85149"/>
                </a:solidFill>
                <a:latin typeface="PingFang SC"/>
              </a:defRPr>
            </a:pPr>
            <a:r>
              <a:t>-$200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342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85149"/>
                </a:solidFill>
                <a:latin typeface="PingFang SC"/>
              </a:defRPr>
            </a:pPr>
            <a:r>
              <a:t>0.020%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709160"/>
            <a:ext cx="9144000" cy="347472"/>
          </a:xfrm>
          <a:prstGeom prst="rect">
            <a:avLst/>
          </a:prstGeom>
          <a:solidFill>
            <a:srgbClr val="1A140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745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贡献毛利 (Gross Margin)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457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843"/>
                </a:solidFill>
                <a:latin typeface="PingFang SC"/>
              </a:defRPr>
            </a:pPr>
            <a:r>
              <a:t>$4,300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745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4A843"/>
                </a:solidFill>
                <a:latin typeface="PingFang SC"/>
              </a:defRPr>
            </a:pPr>
            <a:r>
              <a:t>0.430%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每年固定成本: 团队 $3.5M + 法律 $1.5M + 技术 $2M + 审计 $0.5M + 客服 $0.8M = $8.3M/年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91D"/>
                </a:solidFill>
                <a:latin typeface="PingFang SC"/>
              </a:defRPr>
            </a:pPr>
            <a:r>
              <a:t>盈亏平衡交易量: ~$1.9B/年 (日 $5.2M)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用户如何获益 — 四轨激励体系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2991D"/>
                </a:solidFill>
                <a:latin typeface="PingFang SC"/>
              </a:defRPr>
            </a:pPr>
            <a:r>
              <a:t>重要: 用户获得的是 pGOLD 代币奖励，非现金分红。奖励由协议增发，价值取决于市场能否吸收新增供应。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74320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743200" cy="5029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A: 持有分红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PingFang SC"/>
              </a:defRPr>
            </a:pPr>
            <a:r>
              <a:t>3.5% 年化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持有 pGOLD 即可参与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219456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B949E"/>
                </a:solidFill>
                <a:latin typeface="PingFang SC"/>
              </a:defRPr>
            </a:pPr>
            <a:r>
              <a:t>来源: 协议净收入分配</a:t>
            </a:r>
            <a:br/>
            <a:r>
              <a:t>(利润瀑布第 5 层)</a:t>
            </a:r>
            <a:br/>
            <a:r>
              <a:t>多数情景下可能为零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274320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645920"/>
            <a:ext cx="2743200" cy="5029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B: Top 100 交易大师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PingFang SC"/>
              </a:defRPr>
            </a:pPr>
            <a:r>
              <a:t>300/500/1000%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月榜 300% × 存入量</a:t>
            </a:r>
            <a:br/>
            <a:r>
              <a:t>季榜 500% × 存入量</a:t>
            </a:r>
            <a:br/>
            <a:r>
              <a:t>年榜 1000% × 存入量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3383280"/>
            <a:ext cx="219456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5661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B949E"/>
                </a:solidFill>
                <a:latin typeface="PingFang SC"/>
              </a:defRPr>
            </a:pPr>
            <a:r>
              <a:t>10 年线性释放</a:t>
            </a:r>
            <a:br/>
            <a:r>
              <a:t>月/季/年独立结算，可叠加</a:t>
            </a:r>
            <a:br/>
            <a:r>
              <a:t>排名是门票，存入量决定基数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274320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45920"/>
            <a:ext cx="2743200" cy="5029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C: 燃烧挖矿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PingFang SC"/>
              </a:defRPr>
            </a:pPr>
            <a:r>
              <a:t>1000% × 亏损额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交易亏损可获得补偿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383280"/>
            <a:ext cx="219456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5661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B949E"/>
                </a:solidFill>
                <a:latin typeface="PingFang SC"/>
              </a:defRPr>
            </a:pPr>
            <a:r>
              <a:t>10 年线性释放</a:t>
            </a:r>
            <a:br/>
            <a:r>
              <a:t>无需质押，与榜单奖励可叠加</a:t>
            </a:r>
            <a:br/>
            <a:r>
              <a:t>散户的信仰者轨道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645920"/>
            <a:ext cx="274320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645920"/>
            <a:ext cx="2743200" cy="5029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D: 费率特权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PingFang SC"/>
              </a:defRPr>
            </a:pPr>
            <a:r>
              <a:t>阶梯手续费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大交易量 → 低费率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3383280"/>
            <a:ext cx="219456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5661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B949E"/>
                </a:solidFill>
                <a:latin typeface="PingFang SC"/>
              </a:defRPr>
            </a:pPr>
            <a:r>
              <a:t>基于 30 日交易量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诚实数学: 奖励谁来买单?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协议收现金手续费 → 发 pGOLD 代币奖励。两者不可直接抵消。下面计算手续费能覆盖年解锁的百分比。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43891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单个燃烧矿工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手续费 / 年解锁 = 只有 5% 由真实收入覆盖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剩余 95.0% 来自新铸造 pGOLD 代币 → 构成通胀压力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年交易 $100K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502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年亏损 $10K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5818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43"/>
                </a:solidFill>
                <a:latin typeface="PingFang SC"/>
              </a:defRPr>
            </a:pPr>
            <a:r>
              <a:t>年补偿解锁 $10K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14215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PingFang SC"/>
              </a:defRPr>
            </a:pPr>
            <a:r>
              <a:t>$500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43891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年榜 Top 交易者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手续费 / 年解锁 = 只有 17.5% 由真实收入覆盖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剩余 82.5% 来自新铸造 pGOLD 代币 → 构成通胀压力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46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年交易 $500M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02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存入 $10M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5818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43"/>
                </a:solidFill>
                <a:latin typeface="PingFang SC"/>
              </a:defRPr>
            </a:pPr>
            <a:r>
              <a:t>年奖励解锁 $14.3M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14215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PingFang SC"/>
              </a:defRPr>
            </a:pPr>
            <a:r>
              <a:t>$2.5M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5149"/>
                </a:solidFill>
                <a:latin typeface="PingFang SC"/>
              </a:defRPr>
            </a:pPr>
            <a:r>
              <a:t>这不是庞氏: 协议从未承诺用现金兑付奖励。奖励是代币，价值由市场供需决定。</a:t>
            </a:r>
            <a:br/>
            <a:r>
              <a:t>但交易量如果跟不上增发速度，代币会通胀贬值 → 奖励实际购买力下降。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反庞氏硬约束 — 5 账户法律隔离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325880"/>
            <a:ext cx="502920" cy="50292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用户本金账户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36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用户锁仓存入的 pGOLD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34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  <a:latin typeface="PingFang SC"/>
              </a:defRPr>
            </a:pPr>
            <a:r>
              <a:t>信托/托管隔离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仅限用户到期提取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黄金储备账户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42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实物黄金，覆盖 100% 流通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40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破产隔离 SPV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514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仅限赎回 + 每日 Merkle 证明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0040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337560"/>
            <a:ext cx="502920" cy="50292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运营资金账户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47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团队薪资、服务器、合规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46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PingFang SC"/>
              </a:defRPr>
            </a:pPr>
            <a:r>
              <a:t>公司级隔离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520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预算内支出，正常审计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0624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D29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奖励池账户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537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已承诺未释放的奖励代币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251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智能合约锁定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526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按时线性释放，不可提前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1208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5349240"/>
            <a:ext cx="502920" cy="50292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应急储备账户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559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6 月运营成本 + 赎回缓冲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257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5149"/>
                </a:solidFill>
                <a:latin typeface="PingFang SC"/>
              </a:defRPr>
            </a:pPr>
            <a:r>
              <a:t>独立托管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532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仅安全阀触发时动用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5149"/>
                </a:solidFill>
                <a:latin typeface="PingFang SC"/>
              </a:defRPr>
            </a:pPr>
            <a:r>
              <a:t>硬约束: B账户黄金不得用于运营/分红/拉新。奖励只能用已实现净收入或预先资本化的有限营销预算支付。禁止用后来者本金付前人奖励。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利润瀑布 &amp; 自动安全阀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收入严格按层级分配，上层未满足时下层为零。安全阀触发时 4-7 层全部暂停。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6093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093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PingFang SC"/>
              </a:defRPr>
            </a:pPr>
            <a:r>
              <a:t>运营成本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09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100% 直至覆盖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09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无条件 (法律义务)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066543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12140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214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PingFang SC"/>
              </a:defRPr>
            </a:pPr>
            <a:r>
              <a:t>黄金储备补仓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214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100% 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214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覆盖 &lt; 100% 时触发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578608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33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PingFang SC"/>
              </a:defRPr>
            </a:pPr>
            <a:r>
              <a:t>应急储备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30% 剩余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334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现金 &lt; 6 月运营成本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090672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31455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991D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91D"/>
                </a:solidFill>
                <a:latin typeface="PingFang SC"/>
              </a:defRPr>
            </a:pPr>
            <a:r>
              <a:t>营销预算 (封顶)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145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&lt; = 10% 剩余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1455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以上层级全部满足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602736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持有分红 (A轨)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按净收入比例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657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年化 &lt;= 3.5%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4114800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41696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169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PingFang SC"/>
              </a:defRPr>
            </a:pPr>
            <a:r>
              <a:t>团队绩效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169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15% 剩余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1696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净利润 &gt;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4626864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4681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PingFang SC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PingFang SC"/>
              </a:defRPr>
            </a:pPr>
            <a:r>
              <a:t>回购 &amp; 燃烧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681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剩余全部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681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以上全部满足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212080"/>
            <a:ext cx="10515600" cy="1280160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PingFang SC"/>
              </a:defRPr>
            </a:pPr>
            <a:r>
              <a:t>自动安全阀 (以下任一触发 → 4-7 层暂停)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623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(a) 黄金储备覆盖率 &lt; 100%    (b) 现金跑道 &lt; 3 月    (c) 连续 3 月净亏损    (d) 单日赎回 &gt; 15%</a:t>
            </a:r>
            <a:br/>
            <a:r>
              <a:t>极端安全阀 (储备 &lt; 80% 或连亏 6 月): 冻结所有非必要操作，仅保留赎回通道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三情景财务预测 (5 年)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PingFang SC"/>
              </a:defRPr>
            </a:pPr>
            <a:r>
              <a:t>乐观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50 吨黄金 | 日 $750M | 20万用户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年交易量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$270B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年手续费收入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$1,350M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年解锁奖励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145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$1,250M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21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年净收入 (现金)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$182M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储备覆盖率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现金跑道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48+ 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74920"/>
            <a:ext cx="3200400" cy="1828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  <a:latin typeface="PingFang SC"/>
              </a:defRPr>
            </a:pPr>
            <a:r>
              <a:t>协议充裕盈利，奖励价值取决于市场吸收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188720"/>
            <a:ext cx="35661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188720"/>
            <a:ext cx="356616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2161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PingFang SC"/>
              </a:defRPr>
            </a:pPr>
            <a:r>
              <a:t>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10 吨黄金 | 日 $150M | 5万用户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年交易量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$54B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年手续费收入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$270M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年解锁奖励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145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$250M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621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年净收入 (现金)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$12M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储备覆盖率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现金跑道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24 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5074920"/>
            <a:ext cx="3200400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5166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协议微利，通胀压力可控但需持续增长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188720"/>
            <a:ext cx="35661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1188720"/>
            <a:ext cx="3566160" cy="4572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2161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PingFang SC"/>
              </a:defRPr>
            </a:pPr>
            <a:r>
              <a:t>悲观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1 吨黄金 | 日 $15M | 5千用户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年交易量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$5.4B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年手续费收入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$27M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年解锁奖励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145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$25M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621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年净收入 (现金)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-$3M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储备覆盖率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85%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现金跑道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6 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5074920"/>
            <a:ext cx="3200400" cy="1828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5166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5149"/>
                </a:solidFill>
                <a:latin typeface="PingFang SC"/>
              </a:defRPr>
            </a:pPr>
            <a:r>
              <a:t>协议亏损，安全阀自动触发，暂停奖励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压力测试矩阵 (基础情景为起点)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交易量暴跌 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日 $15M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PingFang SC"/>
              </a:defRPr>
            </a:pPr>
            <a:r>
              <a:t>年净收入 - $8M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安全阀触发 → 暂停奖励 → 仅赎回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39112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交易量腰斩 12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日 $75M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762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91D"/>
                </a:solidFill>
                <a:latin typeface="PingFang SC"/>
              </a:defRPr>
            </a:pPr>
            <a:r>
              <a:t>年净收入 $1M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762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奖励降至零，现金跑道缩短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89504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352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金价跌 30% + 价差翻倍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73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储备市值缩水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266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PingFang SC"/>
              </a:defRPr>
            </a:pPr>
            <a:r>
              <a:t>储备覆盖率 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266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极端安全阀 → 冻结操作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39896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856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单日赎回 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239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30% 总量被赎回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8770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91D"/>
                </a:solidFill>
                <a:latin typeface="PingFang SC"/>
              </a:defRPr>
            </a:pPr>
            <a:r>
              <a:t>储备仍 100% 覆盖余额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7705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排队/限流机制 + 赎回费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90288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36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监管禁新客 12 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74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零新增用户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7274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91D"/>
                </a:solidFill>
                <a:latin typeface="PingFang SC"/>
              </a:defRPr>
            </a:pPr>
            <a:r>
              <a:t>存量维持，净收入缩减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274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仅维持运营，暂停扩张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440680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黑客损失 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824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储备金损失 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PingFang SC"/>
              </a:defRPr>
            </a:pPr>
            <a:r>
              <a:t>保险赔付 + 自补缺口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暂停交易 + 安全事件响应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全部 13 情景完整矩阵见 financial_model_v3.html。核心原则: 不靠不现实的交易量修饰风险情景。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监管与合规 — 多法域分类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5149"/>
                </a:solidFill>
                <a:latin typeface="PingFang SC"/>
              </a:defRPr>
            </a:pPr>
            <a:r>
              <a:t>所有法域分类需当地持牌律师出具正式法律意见。以下为初步研究框架，不构成法律建议。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中国香港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SFC Type 7 (ATS) + SVF 牌照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991D"/>
                </a:solidFill>
                <a:latin typeface="PingFang SC"/>
              </a:defRPr>
            </a:pPr>
            <a:r>
              <a:t>证券风险: 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友好度: 中高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新加坡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MAS DPT 服务牌照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991D"/>
                </a:solidFill>
                <a:latin typeface="PingFang SC"/>
              </a:defRPr>
            </a:pPr>
            <a:r>
              <a:t>证券风险: 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友好度: 中高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5176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阿联酋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FSRA/VARA 商品代币框架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证券风险: 较友好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友好度: 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瑞士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FINMA 资产代币/DLT 牌照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证券风险: 较友好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友好度: 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欧盟 (MiCA)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资产参考代币 (ART) 分类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证券风险: 审慎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友好度: 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43484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美国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SEC 证券风险 + CFTC + MSB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5149"/>
                </a:solidFill>
                <a:latin typeface="PingFang SC"/>
              </a:defRPr>
            </a:pPr>
            <a:r>
              <a:t>证券风险: 高危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友好度: 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843"/>
                </a:solidFill>
                <a:latin typeface="PingFang SC"/>
              </a:defRPr>
            </a:pPr>
            <a:r>
              <a:t>推荐发行主体注册地: BVI/开曼 | 目标运营首站: 阿联酋 ADGM 或瑞士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核心合规要求: KYC/AML (FATF 旅行规则) | 制裁筛查 (OFAC/UN/EU) | 交易监控 (Chainalysis) | 数据保护 (GDPR)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Go / No-Go 硬门槛 — 缺一项就不能上线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618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发行主体注册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合法公司注册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61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515600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64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647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法律意见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64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持牌律所非证券意见书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64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缺少 — 硬 No-Go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94560"/>
            <a:ext cx="10515600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267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267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托管 + 保险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267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LBMA 金库 + Lloyd's 全险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缺少 — 硬 No-Go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9748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7706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独立审计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770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四大季度审计合同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70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缺少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00400"/>
            <a:ext cx="10515600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273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储备缓冲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100% 黄金 + 3 月现金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73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缺少 — 硬 No-Go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70332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7764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776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压力测试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776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最坏情景不破产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776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待验证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20624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279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赎回测试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端到端流程通过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待测试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70916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7823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4782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KYC/AML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782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第三方集成就绪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782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待集成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21208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285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285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合约审计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285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2+ 家独立审计 + 公开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285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待审计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71500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7881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5788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营销合规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788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无稳赚/不亏等表述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788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待审核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6291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PingFang SC"/>
              </a:defRPr>
            </a:pPr>
            <a:r>
              <a:t>当前状态: 全部 G2/G3/G5 缺失 → 硬 No-Go。需在实际启动前逐一验证。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上线路线图: 沙盒 → 试点 → 公开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325880"/>
            <a:ext cx="548640" cy="5486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117"/>
                </a:solidFill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PingFang SC"/>
              </a:defRPr>
            </a:pPr>
            <a:r>
              <a:t>沙盒测试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72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时间: 3-6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Go条件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G1+G3+G5+G8+G9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白名单用户 · 模拟黄金 · $1M 上限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117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PingFang SC"/>
              </a:defRPr>
            </a:pPr>
            <a:r>
              <a:t>受限试点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761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时间: 6-12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Go条件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全部 G1-G10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单一法域 · KYC 用户 · $50M 上限 · 限额赎回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370332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117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PingFang SC"/>
              </a:defRPr>
            </a:pPr>
            <a:r>
              <a:t>拓展试点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950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时间: 12-18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Go条件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阶段1 运营6月无事故 + 3月盈利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2-3 法域 · 解除赎回限制 · 开放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5488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4892040"/>
            <a:ext cx="548640" cy="5486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117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PingFang SC"/>
              </a:defRPr>
            </a:pPr>
            <a:r>
              <a:t>公开发布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时间: 18+ 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Go条件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完整牌照 + 12月 100% 储备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范围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全球 · 无上限 · 完整功能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5149"/>
                </a:solidFill>
                <a:latin typeface="PingFang SC"/>
              </a:defRPr>
            </a:pPr>
            <a:r>
              <a:t>我们必须告诉你的风险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61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代币通胀风险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奖励 82-95% 来自新铸币。交易量增长落后时代币贬值，奖励购买力下降。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188720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61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流动性风险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大规模赎回可能触发限流。极端情况下赎回时间不确定。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监管风险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可能在某些法域被归类为证券。监管变化可能导致业务暂停或退出。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468880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42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智能合约风险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代码漏洞可能导致资金损失。虽有审计和保险，但无 100% 保证。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托管风险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1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实物黄金可能因欺诈/盗窃/不可抗力损失。保险覆盖但理赔程序不确定。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749039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8221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市场风险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6051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金价本身可涨可跌。奖励锁仓期间无法退出。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29199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盈亏风险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交易亏损可能超过补偿。燃烧矿工不能保证净盈利。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029199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10235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团队风险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4406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核心成员离职可能影响开发进度。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以上风险可能导致部分或全部投资损失。历史数据和模型推演不代表未来表现。请在充分理解后自行判断。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竞争格局 &amp; 差异化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38404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2743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pGOLD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PAXG / XAUT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Gold ETF (GLD)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算法稳定币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007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锚定资产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00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实物黄金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00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实物黄金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00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实物黄金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700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 / 混合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3055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储备透明度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203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每日 Merkle 证明 + 季度审计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03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月度审计报告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203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每日公布持仓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203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3347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7066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交易时间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706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7x24 链上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706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7x24 链上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06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交易所时间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06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7x24 链上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3639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95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交易激励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209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四轨激励 + 利润瀑布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209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9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9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套利驱动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3931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7124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反庞氏架构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712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5 账户隔离 + 安全阀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712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712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受 ETF 监管保护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712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多数已崩溃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4223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15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手续费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215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0.5%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215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铸造/销毁费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215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管理费 0.4%/年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215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取决于 DEX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64515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7183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目标用户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718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活跃交易者 + 商家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718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持有者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718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机构投资者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718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投机者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14807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221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关键风险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5221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交易量依赖、通胀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5221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对手方风险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221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管理费用侵蚀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221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历史证明不可持续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代币经济 — 核心参数表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pGOLD 锚定价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1 pGOLD = 1 克黄金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$85/g (随国际金价浮动)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交易手续费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唯一真实收入来源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月榜奖励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300% × 当月存入量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10 年线性释放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季榜奖励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500% × 当季存入量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10 年线性释放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19456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年榜奖励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1000% × 当年存入量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10 年线性释放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19456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叠加规则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无硬顶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月/季/年独立结算，可叠加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0040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燃烧补偿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1000% × 亏损额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10 年线性释放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20040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持有分红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3.5% 年化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来源: 协议净收入 (利润瀑布第5层)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20040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黄金托管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LBMA 认证金库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费用: 0.12% AUM/年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20624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保险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Lloyd's 全险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800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费用: 0.15% AUM/年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420624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储备证明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每日 Merkle 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4800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季度四大审计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420624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反庞氏约束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5 账户法律隔离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800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不可挪用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执行团队 &amp; 关键角色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PingFang SC"/>
              </a:defRPr>
            </a:pPr>
            <a:r>
              <a:t>核心 20 人团队 (规划)，年成本 ~$3.5M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00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CEO / 创始人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007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战略、融资、监管沟通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7007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4884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03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037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智能合约架构、安全、技术栈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2037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5176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7066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首席经济学家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06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代币经济模型、压力测试、参数调优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15468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2095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合规官 (CCO)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9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多法域牌照、AML/KYC、监管报告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65760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712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安全工程师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12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合约审计、渗透测试、应急响应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7124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16052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215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后端 + 前端工程师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153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交易引擎、API、Web/App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2153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6344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718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量化交易 / 做市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183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流动性管理、风险对冲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7183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516636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5221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运营 + 客服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2212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用户支持、社区管理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2212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566928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57241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法务 + 审计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724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合同、知识产权、外部审计协调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5724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2991D"/>
                </a:solidFill>
                <a:latin typeface="PingFang SC"/>
              </a:defRPr>
            </a:pPr>
            <a:r>
              <a:t>当前状态: 核心模型已完成。团队招聘、法律意见、托管协议、审计合同待启动。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本轮融资 &amp; 资金用途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117"/>
                </a:solidFill>
                <a:latin typeface="PingFang SC"/>
              </a:defRPr>
            </a:pPr>
            <a:r>
              <a:t>种子轮 (当前): $3-5M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法律意见 (多法域): $500K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托管 + 保险启动: $300K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沙盒开发 + 审计: $800K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团队 12 月: $1.5M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初始储备缓冲: $500K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应急储备: $400K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8348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3949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39496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161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117"/>
                </a:solidFill>
                <a:latin typeface="PingFang SC"/>
              </a:defRPr>
            </a:pPr>
            <a:r>
              <a:t>A 轮 (9-12 月后): $10-20M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初始黄金储备 (1-3 吨): $8.5-25.5M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01168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377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多法域牌照申请: $1M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60604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71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做市流动性种子: $2M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20040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营销启动 + 商家拓展: $1.5M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79476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团队扩充至 30 人: $2M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38912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总结: 这个项目是什么，不是什么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PingFang SC"/>
              </a:defRPr>
            </a:pPr>
            <a:r>
              <a:t>pGOLD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一个黄金锚定的链上交易协议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实物黄金 1:1 支撑，可赎回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每日 Merkle 储备证明 + 季度四大审计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5 账户法律隔离，反挪用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利润瀑布: 先保储备再分红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自动安全阀: 不达标暂停奖励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诚实披露: 奖励 82-95% 来自增发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数学自洽: 所有假设可验证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5149"/>
                </a:solidFill>
                <a:latin typeface="PingFang SC"/>
              </a:defRPr>
            </a:pPr>
            <a:r>
              <a:t>pGOLD 不是什么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不是庞氏 / 资金盘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不是"稳赚不赔"的投资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不是用后来者钱付前人息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不承诺代币必然升值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不保证分红必然发放 (第5层)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不是纯"代码即法律" (有人工安全阀)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不绕过任何监管牌照要求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257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不靠不现实交易量修饰模型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v-pGOLD — 现货不砸盘，锁仓能变现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PingFang SC"/>
              </a:defRPr>
            </a:pPr>
            <a:r>
              <a:t>pGOLD激励产生大量锁仓奖励。v-pGOLD让解锁者变现而不冲击现货——泄洪阀机制。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200400" cy="2286000"/>
          </a:xfrm>
          <a:prstGeom prst="rect">
            <a:avLst/>
          </a:prstGeom>
          <a:solidFill>
            <a:srgbClr val="3A2A0A"/>
          </a:solidFill>
          <a:ln w="1270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PingFang SC"/>
              </a:defRPr>
            </a:pPr>
            <a:r>
              <a:t>锁定仓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奖励锁在Vault</a:t>
            </a:r>
            <a:br/>
            <a:r>
              <a:t>未来N年释放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2834640" cy="50292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  <a:latin typeface="PingFang SC"/>
              </a:defRPr>
            </a:pPr>
            <a:r>
              <a:t>铸造</a:t>
            </a:r>
            <a:br/>
            <a:r>
              <a:t>v-pGOLD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32004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PingFang SC"/>
              </a:defRPr>
            </a:pPr>
            <a:r>
              <a:t>二级市场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v-pGOLD 打折交易</a:t>
            </a:r>
            <a:br/>
            <a:r>
              <a:t>流动性折价15-25%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200400"/>
            <a:ext cx="2834640" cy="50292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  <a:latin typeface="PingFang SC"/>
              </a:defRPr>
            </a:pPr>
            <a:r>
              <a:t>卖方拿现金</a:t>
            </a:r>
            <a:br/>
            <a:r>
              <a:t>买方赚释放流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554480"/>
            <a:ext cx="32004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691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PingFang SC"/>
              </a:defRPr>
            </a:pPr>
            <a:r>
              <a:t>日释放流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031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合约逐日打pGOLD</a:t>
            </a:r>
            <a:br/>
            <a:r>
              <a:t>给当前凭证持有人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3200400"/>
            <a:ext cx="2834640" cy="50292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  <a:latin typeface="PingFang SC"/>
              </a:defRPr>
            </a:pPr>
            <a:r>
              <a:t>买方IRR 11%+</a:t>
            </a:r>
            <a:br/>
            <a:r>
              <a:t>黄金背书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对比: 卖已解锁pGOLD → 砸盘承压  |  卖v-pGOLD → 零现货影响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105156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709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PingFang SC"/>
              </a:defRPr>
            </a:pPr>
            <a:r>
              <a:t>定价示例  |  $100K总奖励 · 剩$70K未释放 · 7年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面值 (F)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$70,000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剩余7年 × 365天 × $27.4/天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流动性折价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−20%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买方锁定资金的补偿 → 市场价 $56,000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买方 IRR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715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  <a:latin typeface="PingFang SC"/>
              </a:defRPr>
            </a:pPr>
            <a:r>
              <a:t>~11%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$56K买入 → 7年回收$70K + 黄金增值→14-16%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三方共赢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6080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  <a:latin typeface="PingFang SC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6080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卖方变现不砸盘 · 买方吃释放流 · 协议保护现货价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3"/>
                </a:solidFill>
                <a:latin typeface="PingFang SC"/>
              </a:defRPr>
            </a:pPr>
            <a:r>
              <a:t>价格地板 — 三层防御体系（替代虚假套利底）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92608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黄金仅做储备不开放赎回，因此不存在买入-赎回黄金-卖出的套利闭环。三层替代方案：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2918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L1 · 软锚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始终激活 · 零成本</a:t>
            </a:r>
          </a:p>
          <a:p>
            <a:br/>
            <a:pPr algn="ctr">
              <a:defRPr sz="900">
                <a:solidFill>
                  <a:srgbClr val="E6EDF3"/>
                </a:solidFill>
              </a:defRPr>
            </a:pPr>
            <a:r>
              <a:t>商家折价买入pGOLD结算</a:t>
            </a:r>
            <a:br/>
            <a:r>
              <a:t>分红引力（折价→高实际收益率）</a:t>
            </a:r>
            <a:br/>
            <a:r>
              <a:t>储备透明化防止归零</a:t>
            </a:r>
            <a:br/>
            <a:r>
              <a:t>新用户入场刚需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554480"/>
            <a:ext cx="32918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L2 · 条件赎回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折价&gt;3%×7天激活</a:t>
            </a:r>
          </a:p>
          <a:p>
            <a:br/>
            <a:pPr algn="ctr">
              <a:defRPr sz="900">
                <a:solidFill>
                  <a:srgbClr val="E6EDF3"/>
                </a:solidFill>
              </a:defRPr>
            </a:pPr>
            <a:r>
              <a:t>仅KYC商家可赎回黄金</a:t>
            </a:r>
            <a:br/>
            <a:r>
              <a:t>季度上限=储备5%</a:t>
            </a:r>
            <a:br/>
            <a:r>
              <a:t>形成~97%金价有效地板</a:t>
            </a:r>
            <a:br/>
            <a:r>
              <a:t>真正的硬锚机制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554480"/>
            <a:ext cx="32918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L3 · 稳定基金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折价&gt;10%×48h激活</a:t>
            </a:r>
          </a:p>
          <a:p>
            <a:br/>
            <a:pPr algn="ctr">
              <a:defRPr sz="900">
                <a:solidFill>
                  <a:srgbClr val="E6EDF3"/>
                </a:solidFill>
              </a:defRPr>
            </a:pPr>
            <a:r>
              <a:t>协议铸币买入并销毁</a:t>
            </a:r>
            <a:br/>
            <a:r>
              <a:t>资金不碰黄金储备</a:t>
            </a:r>
            <a:br/>
            <a:r>
              <a:t>流通量缩减→储备比提升</a:t>
            </a:r>
            <a:br/>
            <a:r>
              <a:t>极端恐慌的最后防线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024128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三层递进：折价&lt;3%→L1 · 折价3-10%连续7天→L2开闸 · 折价&gt;10%连续48h→L3灭火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日常买方(商家+新用户+LP+持币)日需求$257K，远超日卖压$33K。L2/L3是备用安全阀，不是日常依赖。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843"/>
                </a:solidFill>
                <a:latin typeface="PingFang SC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PingFang SC"/>
              </a:defRPr>
            </a:pPr>
            <a:r>
              <a:t>本路演材料基于 pGOLD V3 可审计数学模型生成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PingFang SC"/>
              </a:defRPr>
            </a:pPr>
            <a:r>
              <a:t>所有数据和假设详见: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4A843"/>
                </a:solidFill>
                <a:latin typeface="PingFang SC"/>
              </a:defRPr>
            </a:pPr>
            <a:r>
              <a:t>financial_model_v3.html  |  feasibility_analysis_v3.html  |  risk_and_go_live_report.html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本材料不构成任何形式的投资建议。所有前瞻性陈述受假设条件约束。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Version 3.0  |  June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