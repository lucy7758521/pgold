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6" r:id="rId27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D4A843"/>
                </a:solidFill>
                <a:latin typeface="PingFang SC"/>
              </a:defRPr>
            </a:pPr>
            <a:r>
              <a:t>pGOLD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E6EDF3"/>
                </a:solidFill>
                <a:latin typeface="PingFang SC"/>
              </a:defRPr>
            </a:pPr>
            <a:r>
              <a:t>黄金锚定链上交易协议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PingFang SC"/>
              </a:defRPr>
            </a:pPr>
            <a:r>
              <a:t>1 pGOLD = 1 克黄金  |  可验证储备  |  链上交易与结算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6914"/>
                </a:solidFill>
                <a:latin typeface="PingFang SC"/>
              </a:defRPr>
            </a:pPr>
            <a:r>
              <a:t>路演材料  V3.0  |  2026 年 6 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本材料基于可审计数学模型。所有前瞻性陈述受假设条件约束。不构成投资建议。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黄金的数字化困境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447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1D"/>
                </a:solidFill>
                <a:latin typeface="PingFang SC"/>
              </a:defRPr>
            </a:pPr>
            <a:r>
              <a:t>问题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1907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实物黄金交易摩擦极大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2996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跨境运输、海关、保险、仓储 — 每单成本 $200+，耗时 5-15 天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06040"/>
            <a:ext cx="105156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791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1D"/>
                </a:solidFill>
                <a:latin typeface="PingFang SC"/>
              </a:defRPr>
            </a:pPr>
            <a:r>
              <a:t>问题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5351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现有黄金 ETF 门槛高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26440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仅限证券账户、交易时间受限、无法 7x24 链上结算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105156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13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1D"/>
                </a:solidFill>
                <a:latin typeface="PingFang SC"/>
              </a:defRPr>
            </a:pPr>
            <a:r>
              <a:t>问题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1879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链上黄金代币信任危机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9884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多数项目储备证明不透明，存在重复质押风险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074920"/>
            <a:ext cx="105156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1480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1D"/>
                </a:solidFill>
                <a:latin typeface="PingFang SC"/>
              </a:defRPr>
            </a:pPr>
            <a:r>
              <a:t>问题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422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缺乏交易激励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733288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持有者被动等待金价上涨，无活跃交易生态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pGOLD 协议如何解决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5156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5331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PingFang SC"/>
              </a:defRPr>
            </a:pPr>
            <a:r>
              <a:t>1 pGOLD = 1 克黄金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916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实物黄金在 LBMA 认证金库托管，每日 Merkle 树储备证明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105156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3591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PingFang SC"/>
              </a:defRPr>
            </a:pPr>
            <a:r>
              <a:t>0.5% 手续费 + 四轨激励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6974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交易产生手续费，手续费回购黄金扩储备。用户通过交易排名和亏损补偿获取奖励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91840"/>
            <a:ext cx="105156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29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36499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PingFang SC"/>
              </a:defRPr>
            </a:pPr>
            <a:r>
              <a:t>7x24 链上交易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70332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基于高性能 L2，全天候交易、即时结算、可编程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97680"/>
            <a:ext cx="105156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3708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PingFang SC"/>
              </a:defRPr>
            </a:pPr>
            <a:r>
              <a:t>5 账户法律隔离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47091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用户本金、黄金储备、运营资金、奖励池、应急储备严格分离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303520"/>
            <a:ext cx="10515600" cy="8229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440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843"/>
                </a:solidFill>
                <a:latin typeface="PingFang SC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37667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EDF3"/>
                </a:solidFill>
                <a:latin typeface="PingFang SC"/>
              </a:defRPr>
            </a:pPr>
            <a:r>
              <a:t>利润瀑布 + 自动安全阀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571500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收入优先覆盖运营和储备 → 有盈余才到分红 → 不达标自动暂停奖励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协议如何赚钱 — 真实收入来源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91D"/>
                </a:solidFill>
                <a:latin typeface="PingFang SC"/>
              </a:defRPr>
            </a:pPr>
            <a:r>
              <a:t>唯一收入: 0.5% 交易手续费（真金白银，非代币增发）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737360"/>
            <a:ext cx="9144000" cy="100584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8288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6EDF3"/>
                </a:solidFill>
                <a:latin typeface="PingFang SC"/>
              </a:defRPr>
            </a:pPr>
            <a:r>
              <a:t>年手续费收入 = 年交易量 × 0.5%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42316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PingFang SC"/>
              </a:defRPr>
            </a:pPr>
            <a:r>
              <a:t>示例: 年交易量 $18B (日 $50M) → 年手续费 $90M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17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单位经济学: 每 $1M 交易量的成本与利润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474720"/>
            <a:ext cx="91440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5112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PingFang SC"/>
              </a:defRPr>
            </a:pPr>
            <a:r>
              <a:t>手续费收入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112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3FB950"/>
                </a:solidFill>
                <a:latin typeface="PingFang SC"/>
              </a:defRPr>
            </a:pPr>
            <a:r>
              <a:t>$5,000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5112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FB950"/>
                </a:solidFill>
                <a:latin typeface="PingFang SC"/>
              </a:defRPr>
            </a:pPr>
            <a:r>
              <a:t>0.500%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886200"/>
            <a:ext cx="91440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392277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PingFang SC"/>
              </a:defRPr>
            </a:pPr>
            <a:r>
              <a:t>做市成本 (AMM + CEX)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2277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85149"/>
                </a:solidFill>
                <a:latin typeface="PingFang SC"/>
              </a:defRPr>
            </a:pPr>
            <a:r>
              <a:t>-$500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9227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85149"/>
                </a:solidFill>
                <a:latin typeface="PingFang SC"/>
              </a:defRPr>
            </a:pPr>
            <a:r>
              <a:t>0.050%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4297680"/>
            <a:ext cx="9144000" cy="34747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433425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PingFang SC"/>
              </a:defRPr>
            </a:pPr>
            <a:r>
              <a:t>Gas / 链上成本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3342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F85149"/>
                </a:solidFill>
                <a:latin typeface="PingFang SC"/>
              </a:defRPr>
            </a:pPr>
            <a:r>
              <a:t>-$200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3342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85149"/>
                </a:solidFill>
                <a:latin typeface="PingFang SC"/>
              </a:defRPr>
            </a:pPr>
            <a:r>
              <a:t>0.020%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709160"/>
            <a:ext cx="9144000" cy="347472"/>
          </a:xfrm>
          <a:prstGeom prst="rect">
            <a:avLst/>
          </a:prstGeom>
          <a:solidFill>
            <a:srgbClr val="1A1400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474573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PingFang SC"/>
              </a:defRPr>
            </a:pPr>
            <a:r>
              <a:t>贡献毛利 (Gross Margin)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7457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D4A843"/>
                </a:solidFill>
                <a:latin typeface="PingFang SC"/>
              </a:defRPr>
            </a:pPr>
            <a:r>
              <a:t>$4,300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47457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D4A843"/>
                </a:solidFill>
                <a:latin typeface="PingFang SC"/>
              </a:defRPr>
            </a:pPr>
            <a:r>
              <a:t>0.430%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49E"/>
                </a:solidFill>
                <a:latin typeface="PingFang SC"/>
              </a:defRPr>
            </a:pPr>
            <a:r>
              <a:t>每年固定成本: 团队 $3.5M + 法律 $1.5M + 技术 $2M + 审计 $0.5M + 客服 $0.8M = $8.3M/年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91D"/>
                </a:solidFill>
                <a:latin typeface="PingFang SC"/>
              </a:defRPr>
            </a:pPr>
            <a:r>
              <a:t>盈亏平衡交易量: ~$1.9B/年 (日 $5.2M)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用户如何获益 — 五轨激励体系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2991D"/>
                </a:solidFill>
                <a:latin typeface="PingFang SC"/>
              </a:defRPr>
            </a:pPr>
            <a:r>
              <a:t>重要: 用户获得的是 pGOLD 代币奖励，非现金分红。奖励由协议增发，价值取决于市场能否吸收新增供应。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743200" cy="47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743200" cy="50292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A: 持有分红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843"/>
                </a:solidFill>
                <a:latin typeface="PingFang SC"/>
              </a:defRPr>
            </a:pPr>
            <a:r>
              <a:t>3.5% 年化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持有 pGOLD 即可参与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83280"/>
            <a:ext cx="2194560" cy="18288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35661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B949E"/>
                </a:solidFill>
                <a:latin typeface="PingFang SC"/>
              </a:defRPr>
            </a:pPr>
            <a:r>
              <a:t>来源: 协议净收入分配</a:t>
            </a:r>
            <a:br/>
            <a:r>
              <a:t>(利润瀑布第 5 层)</a:t>
            </a:r>
            <a:br/>
            <a:r>
              <a:t>多数情景下可能为零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645920"/>
            <a:ext cx="2743200" cy="47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645920"/>
            <a:ext cx="2743200" cy="50292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B: Top 100 交易大师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843"/>
                </a:solidFill>
                <a:latin typeface="PingFang SC"/>
              </a:defRPr>
            </a:pPr>
            <a:r>
              <a:t>300/500/1000%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月榜 300% × 存入量</a:t>
            </a:r>
            <a:br/>
            <a:r>
              <a:t>季榜 500% × 存入量</a:t>
            </a:r>
            <a:br/>
            <a:r>
              <a:t>年榜 1000% × 存入量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11880" y="3383280"/>
            <a:ext cx="2194560" cy="18288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5661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B949E"/>
                </a:solidFill>
                <a:latin typeface="PingFang SC"/>
              </a:defRPr>
            </a:pPr>
            <a:r>
              <a:t>7 年线性释放</a:t>
            </a:r>
            <a:br/>
            <a:r>
              <a:t>递进覆盖，1000% 硬顶</a:t>
            </a:r>
            <a:br/>
            <a:r>
              <a:t>排名是门票，存入量决定基数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645920"/>
            <a:ext cx="2743200" cy="47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645920"/>
            <a:ext cx="2743200" cy="50292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C: 燃烧挖矿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843"/>
                </a:solidFill>
                <a:latin typeface="PingFang SC"/>
              </a:defRPr>
            </a:pPr>
            <a:r>
              <a:t>300% × 亏损额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交易亏损可获得补偿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3383280"/>
            <a:ext cx="2194560" cy="18288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35661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B949E"/>
                </a:solidFill>
                <a:latin typeface="PingFang SC"/>
              </a:defRPr>
            </a:pPr>
            <a:r>
              <a:t>3 年线性释放</a:t>
            </a:r>
            <a:br/>
            <a:r>
              <a:t>300% 补偿 = 亏损 $1 得 $2</a:t>
            </a:r>
            <a:br/>
            <a:r>
              <a:t>存在刷量道德风险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98280" y="1645920"/>
            <a:ext cx="2743200" cy="47548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98280" y="1645920"/>
            <a:ext cx="2743200" cy="502920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16916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D: 费率特权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843"/>
                </a:solidFill>
                <a:latin typeface="PingFang SC"/>
              </a:defRPr>
            </a:pPr>
            <a:r>
              <a:t>阶梯手续费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大交易量 → 低费率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72600" y="3383280"/>
            <a:ext cx="2194560" cy="18288"/>
          </a:xfrm>
          <a:prstGeom prst="rect">
            <a:avLst/>
          </a:prstGeom>
          <a:solidFill>
            <a:srgbClr val="8B94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35661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B949E"/>
                </a:solidFill>
                <a:latin typeface="PingFang SC"/>
              </a:defRPr>
            </a:pPr>
            <a:r>
              <a:t>基于 30 日交易量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89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</a:rPr>
              <a:t>+ E: 创世池 ICO — 感谢最早来的人 · 180天窗口 · 阶梯权重10x→2x · 3年释放 · 正价买黄金+白赠创世份额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诚实数学: 奖励谁来买单?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协议收现金手续费 → 发 pGOLD 代币奖励。两者不可直接抵消。下面计算手续费能覆盖年解锁的百分比。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737360"/>
            <a:ext cx="438912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单个燃烧矿工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148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5149"/>
                </a:solidFill>
                <a:latin typeface="PingFang SC"/>
              </a:defRPr>
            </a:pPr>
            <a:r>
              <a:t>手续费 / 年解锁 = 只有 5.0% 由真实收入覆盖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5146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剩余 95.0% 来自新铸造 pGOLD 代币 → 构成通胀压力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46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年交易 $100K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5021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年亏损 $10K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58183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843"/>
                </a:solidFill>
                <a:latin typeface="PingFang SC"/>
              </a:defRPr>
            </a:pPr>
            <a:r>
              <a:t>年补偿解锁 $10K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014215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PingFang SC"/>
              </a:defRPr>
            </a:pPr>
            <a:r>
              <a:t>$500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438912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83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年榜 Top 交易者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48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1D"/>
                </a:solidFill>
                <a:latin typeface="PingFang SC"/>
              </a:defRPr>
            </a:pPr>
            <a:r>
              <a:t>手续费 / 年解锁 = 只有 17.5% 由真实收入覆盖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1460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剩余 82.5% 来自新铸造 pGOLD 代币 → 构成通胀压力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246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年交易 $500M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50215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存入 $10M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758183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D4A843"/>
                </a:solidFill>
                <a:latin typeface="PingFang SC"/>
              </a:defRPr>
            </a:pPr>
            <a:r>
              <a:t>年奖励解锁 $14.3M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014215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FB950"/>
                </a:solidFill>
                <a:latin typeface="PingFang SC"/>
              </a:defRPr>
            </a:pPr>
            <a:r>
              <a:t>$2.5M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754880"/>
            <a:ext cx="10515600" cy="82296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46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85149"/>
                </a:solidFill>
                <a:latin typeface="PingFang SC"/>
              </a:defRPr>
            </a:pPr>
            <a:r>
              <a:t>这不是庞氏: 协议从未承诺用现金兑付奖励。奖励是代币，价值由市场供需决定。</a:t>
            </a:r>
            <a:br/>
            <a:r>
              <a:t>但交易量如果跟不上增发速度，代币会通胀贬值 → 奖励实际购买力下降。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反庞氏硬约束 — 5 账户法律隔离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325880"/>
            <a:ext cx="502920" cy="50292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0D1117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用户本金账户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5361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用户锁仓存入的 pGOLD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234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FB950"/>
                </a:solidFill>
                <a:latin typeface="PingFang SC"/>
              </a:defRPr>
            </a:pPr>
            <a:r>
              <a:t>信托/托管隔离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508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仅限用户到期提取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105156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331720"/>
            <a:ext cx="502920" cy="50292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0D1117"/>
                </a:solidFill>
              </a:defRPr>
            </a:pPr>
            <a: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黄金储备账户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54203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实物黄金，覆盖 100% 流通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240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PingFang SC"/>
              </a:defRPr>
            </a:pPr>
            <a:r>
              <a:t>破产隔离 SPV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5146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仅限赎回 + 每日 Merkle 证明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200400"/>
            <a:ext cx="105156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3337560"/>
            <a:ext cx="502920" cy="50292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0D1117"/>
                </a:solidFill>
              </a:defRPr>
            </a:pPr>
            <a: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246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运营资金账户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5478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团队薪资、服务器、合规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246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8A6FF"/>
                </a:solidFill>
                <a:latin typeface="PingFang SC"/>
              </a:defRPr>
            </a:pPr>
            <a:r>
              <a:t>公司级隔离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520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预算内支出，正常审计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206240"/>
            <a:ext cx="105156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343400"/>
            <a:ext cx="502920" cy="502920"/>
          </a:xfrm>
          <a:prstGeom prst="ellipse">
            <a:avLst/>
          </a:prstGeom>
          <a:solidFill>
            <a:srgbClr val="D299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0D1117"/>
                </a:solidFill>
              </a:defRPr>
            </a:pPr>
            <a: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251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奖励池账户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55371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已承诺未释放的奖励代币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251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智能合约锁定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52628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按时线性释放，不可提前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212080"/>
            <a:ext cx="1051560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" y="5349240"/>
            <a:ext cx="502920" cy="502920"/>
          </a:xfrm>
          <a:prstGeom prst="ellipse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1800" b="1">
                <a:solidFill>
                  <a:srgbClr val="0D1117"/>
                </a:solidFill>
              </a:defRPr>
            </a:pPr>
            <a:r>
              <a:t>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257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应急储备账户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55955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6 月运营成本 + 赎回缓冲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5257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5149"/>
                </a:solidFill>
                <a:latin typeface="PingFang SC"/>
              </a:defRPr>
            </a:pPr>
            <a:r>
              <a:t>独立托管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532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仅安全阀触发时动用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5149"/>
                </a:solidFill>
                <a:latin typeface="PingFang SC"/>
              </a:defRPr>
            </a:pPr>
            <a:r>
              <a:t>硬约束: B账户黄金不得用于运营/分红/拉新。奖励只能用已实现净收入或预先资本化的有限营销预算支付。禁止用后来者本金付前人奖励。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利润瀑布 &amp; 自动安全阀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收入严格按层级分配，上层未满足时下层为零。安全阀触发时 4-7 层全部暂停。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554480"/>
            <a:ext cx="86868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16093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FB950"/>
                </a:solidFill>
                <a:latin typeface="PingFang SC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6093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PingFang SC"/>
              </a:defRPr>
            </a:pPr>
            <a:r>
              <a:t>运营成本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093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100% 直至覆盖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0934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无条件 (法律义务)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066543"/>
            <a:ext cx="86868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2121407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21407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843"/>
                </a:solidFill>
                <a:latin typeface="PingFang SC"/>
              </a:defRPr>
            </a:pPr>
            <a:r>
              <a:t>黄金储备补仓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121407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100% 缺口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21407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覆盖 &lt; 100% 时触发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2578608"/>
            <a:ext cx="86868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26334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58A6FF"/>
                </a:solidFill>
                <a:latin typeface="PingFang SC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6334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PingFang SC"/>
              </a:defRPr>
            </a:pPr>
            <a:r>
              <a:t>应急储备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6334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30% 剩余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63347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现金 &lt; 6 月运营成本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090672"/>
            <a:ext cx="86868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11680" y="314553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2991D"/>
                </a:solidFill>
                <a:latin typeface="PingFang SC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145536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2991D"/>
                </a:solidFill>
                <a:latin typeface="PingFang SC"/>
              </a:defRPr>
            </a:pPr>
            <a:r>
              <a:t>营销预算 (封顶)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1455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&lt; = 10% 剩余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14553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以上层级全部满足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3602736"/>
            <a:ext cx="86868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11680" y="36576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6EDF3"/>
                </a:solidFill>
                <a:latin typeface="PingFang SC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657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PingFang SC"/>
              </a:defRPr>
            </a:pPr>
            <a:r>
              <a:t>持有分红 (A轨)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657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按净收入比例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3657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年化 &lt;= 3.5%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0" y="4114800"/>
            <a:ext cx="86868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1680" y="416966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949E"/>
                </a:solidFill>
                <a:latin typeface="PingFang SC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1696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49E"/>
                </a:solidFill>
                <a:latin typeface="PingFang SC"/>
              </a:defRPr>
            </a:pPr>
            <a:r>
              <a:t>团队绩效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1696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15% 剩余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1696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净利润 &gt; 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28800" y="4626864"/>
            <a:ext cx="86868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11680" y="468172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949E"/>
                </a:solidFill>
                <a:latin typeface="PingFang SC"/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60320" y="46817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949E"/>
                </a:solidFill>
                <a:latin typeface="PingFang SC"/>
              </a:defRPr>
            </a:pPr>
            <a:r>
              <a:t>回购 &amp; 燃烧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46817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剩余全部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46817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以上全部满足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212080"/>
            <a:ext cx="10515600" cy="1280160"/>
          </a:xfrm>
          <a:prstGeom prst="rect">
            <a:avLst/>
          </a:prstGeom>
          <a:solidFill>
            <a:srgbClr val="2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5257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PingFang SC"/>
              </a:defRPr>
            </a:pPr>
            <a:r>
              <a:t>自动安全阀 (以下任一触发 → 4-7 层暂停)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623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(a) 黄金储备覆盖率 &lt; 100%    (b) 现金跑道 &lt; 3 月    (c) 连续 3 月净亏损    (d) 单日赎回 &gt; 15%</a:t>
            </a:r>
            <a:br/>
            <a:r>
              <a:t>极端安全阀 (储备 &lt; 80% 或连亏 6 月): 冻结所有非必要操作，仅保留赎回通道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三情景财务预测 (5 年)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566160" cy="5303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566160" cy="45720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161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PingFang SC"/>
              </a:defRPr>
            </a:pPr>
            <a:r>
              <a:t>乐观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50 吨黄金 | 日 $750M | 20万用户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年交易量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$270B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70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年手续费收入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670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$1,350M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455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年解锁奖励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145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$1,250M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210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年净收入 (现金)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6210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$182M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96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储备覆盖率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096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现金跑道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4572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48+ 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74920"/>
            <a:ext cx="3200400" cy="1828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1663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FB950"/>
                </a:solidFill>
                <a:latin typeface="PingFang SC"/>
              </a:defRPr>
            </a:pPr>
            <a:r>
              <a:t>协议充裕盈利，奖励价值取决于市场吸收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1188720"/>
            <a:ext cx="3566160" cy="53035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1188720"/>
            <a:ext cx="3566160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12161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PingFang SC"/>
              </a:defRPr>
            </a:pPr>
            <a:r>
              <a:t>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1691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10 吨黄金 | 日 $150M | 5万用户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年交易量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$54B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2670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年手续费收入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670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$270M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1455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年解锁奖励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145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$250M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36210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年净收入 (现金)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6210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$12M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80" y="4096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储备覆盖率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096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100%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现金跑道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572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24 月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26280" y="5074920"/>
            <a:ext cx="3200400" cy="18288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0" y="51663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PingFang SC"/>
              </a:defRPr>
            </a:pPr>
            <a:r>
              <a:t>协议微利，通胀压力可控但需持续增长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1188720"/>
            <a:ext cx="3566160" cy="5303520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600" y="1188720"/>
            <a:ext cx="3566160" cy="45720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40" y="12161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1117"/>
                </a:solidFill>
                <a:latin typeface="PingFang SC"/>
              </a:defRPr>
            </a:pPr>
            <a:r>
              <a:t>悲观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16916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1 吨黄金 | 日 $15M | 5千用户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2194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年交易量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$5.4B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26700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年手续费收入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2670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$27M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31455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年解锁奖励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41280" y="314553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$25M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6210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年净收入 (现金)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41280" y="36210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-$3M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40965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储备覆盖率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41280" y="4096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85%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4572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现金跑道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41280" y="45720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6 月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412480" y="5074920"/>
            <a:ext cx="3200400" cy="18288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66760" y="5166360"/>
            <a:ext cx="3291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5149"/>
                </a:solidFill>
                <a:latin typeface="PingFang SC"/>
              </a:defRPr>
            </a:pPr>
            <a:r>
              <a:t>协议亏损，安全阀自动触发，暂停奖励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压力测试矩阵 (基础情景为起点)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PingFang SC"/>
              </a:defRPr>
            </a:pPr>
            <a:r>
              <a:t>交易量暴跌 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7276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日 $15M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325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5149"/>
                </a:solidFill>
                <a:latin typeface="PingFang SC"/>
              </a:defRPr>
            </a:pPr>
            <a:r>
              <a:t>年净收入 - $8M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325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安全阀触发 → 暂停奖励 → 仅赎回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39112"/>
            <a:ext cx="105156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848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PingFang SC"/>
              </a:defRPr>
            </a:pPr>
            <a:r>
              <a:t>交易量腰斩 12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日 $75M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17627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91D"/>
                </a:solidFill>
                <a:latin typeface="PingFang SC"/>
              </a:defRPr>
            </a:pPr>
            <a:r>
              <a:t>年净收入 $1M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17627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奖励降至零，现金跑道缩短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89504"/>
            <a:ext cx="105156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9352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PingFang SC"/>
              </a:defRPr>
            </a:pPr>
            <a:r>
              <a:t>金价跌 30% + 价差翻倍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27355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储备市值缩水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02666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5149"/>
                </a:solidFill>
                <a:latin typeface="PingFang SC"/>
              </a:defRPr>
            </a:pPr>
            <a:r>
              <a:t>储备覆盖率 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02666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极端安全阀 → 冻结操作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39896"/>
            <a:ext cx="105156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7856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PingFang SC"/>
              </a:defRPr>
            </a:pPr>
            <a:r>
              <a:t>单日赎回 30%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2394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30% 总量被赎回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87705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91D"/>
                </a:solidFill>
                <a:latin typeface="PingFang SC"/>
              </a:defRPr>
            </a:pPr>
            <a:r>
              <a:t>储备仍 100% 覆盖余额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87705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排队/限流机制 + 赎回费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590288"/>
            <a:ext cx="105156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D299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6360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PingFang SC"/>
              </a:defRPr>
            </a:pPr>
            <a:r>
              <a:t>监管禁新客 12 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97433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零新增用户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7274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2991D"/>
                </a:solidFill>
                <a:latin typeface="PingFang SC"/>
              </a:defRPr>
            </a:pPr>
            <a:r>
              <a:t>存量维持，净收入缩减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72744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仅维持运营，暂停扩张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440680"/>
            <a:ext cx="105156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486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PingFang SC"/>
              </a:defRPr>
            </a:pPr>
            <a:r>
              <a:t>黑客损失 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8247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储备金损失 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5577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5149"/>
                </a:solidFill>
                <a:latin typeface="PingFang SC"/>
              </a:defRPr>
            </a:pPr>
            <a:r>
              <a:t>保险赔付 + 自补缺口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577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暂停交易 + 安全事件响应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355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全部 13 情景完整矩阵见 financial_model_v3.html。核心原则: 不靠不现实的交易量修饰风险情景。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监管与合规 — 多法域分类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85149"/>
                </a:solidFill>
                <a:latin typeface="PingFang SC"/>
              </a:defRPr>
            </a:pPr>
            <a:r>
              <a:t>所有法域分类需当地持牌律师出具正式法律意见。以下为初步研究框架，不构成法律建议。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515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中国香港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554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SFC Type 7 (ATS) + SVF 牌照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2991D"/>
                </a:solidFill>
                <a:latin typeface="PingFang SC"/>
              </a:defRPr>
            </a:pPr>
            <a:r>
              <a:t>证券风险: 可能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554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FB950"/>
                </a:solidFill>
                <a:latin typeface="PingFang SC"/>
              </a:defRPr>
            </a:pPr>
            <a:r>
              <a:t>友好度: 中高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10515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新加坡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48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MAS DPT 服务牌照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D2991D"/>
                </a:solidFill>
                <a:latin typeface="PingFang SC"/>
              </a:defRPr>
            </a:pPr>
            <a:r>
              <a:t>证券风险: 可能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FB950"/>
                </a:solidFill>
                <a:latin typeface="PingFang SC"/>
              </a:defRPr>
            </a:pPr>
            <a:r>
              <a:t>友好度: 中高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651760"/>
            <a:ext cx="10515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阿联酋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FSRA/VARA 商品代币框架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FB950"/>
                </a:solidFill>
                <a:latin typeface="PingFang SC"/>
              </a:defRPr>
            </a:pPr>
            <a:r>
              <a:t>证券风险: 较友好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FB950"/>
                </a:solidFill>
                <a:latin typeface="PingFang SC"/>
              </a:defRPr>
            </a:pPr>
            <a:r>
              <a:t>友好度: 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246120"/>
            <a:ext cx="10515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337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瑞士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3375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FINMA 资产代币/DLT 牌照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337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FB950"/>
                </a:solidFill>
                <a:latin typeface="PingFang SC"/>
              </a:defRPr>
            </a:pPr>
            <a:r>
              <a:t>证券风险: 较友好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33375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FB950"/>
                </a:solidFill>
                <a:latin typeface="PingFang SC"/>
              </a:defRPr>
            </a:pPr>
            <a:r>
              <a:t>友好度: 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840480"/>
            <a:ext cx="10515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欧盟 (MiCA)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931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资产参考代币 (ART) 分类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931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FB950"/>
                </a:solidFill>
                <a:latin typeface="PingFang SC"/>
              </a:defRPr>
            </a:pPr>
            <a:r>
              <a:t>证券风险: 审慎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931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友好度: 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434840"/>
            <a:ext cx="10515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美国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526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SEC 证券风险 + CFTC + MSB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5149"/>
                </a:solidFill>
                <a:latin typeface="PingFang SC"/>
              </a:defRPr>
            </a:pPr>
            <a:r>
              <a:t>证券风险: 高危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526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友好度: 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843"/>
                </a:solidFill>
                <a:latin typeface="PingFang SC"/>
              </a:defRPr>
            </a:pPr>
            <a:r>
              <a:t>推荐发行主体注册地: BVI/开曼 | 目标运营首站: 阿联酋 ADGM 或瑞士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核心合规要求: KYC/AML (FATF 旅行规则) | 制裁筛查 (OFAC/UN/EU) | 交易监控 (Chainalysis) | 数据保护 (GDPR)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Go / No-Go 硬门槛 — 缺一项就不能上线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618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G1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发行主体注册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618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合法公司注册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261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1D"/>
                </a:solidFill>
                <a:latin typeface="PingFang SC"/>
              </a:defRPr>
            </a:pPr>
            <a:r>
              <a:t>待完成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10515600" cy="438912"/>
          </a:xfrm>
          <a:prstGeom prst="rect">
            <a:avLst/>
          </a:prstGeom>
          <a:solidFill>
            <a:srgbClr val="2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647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G2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7647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法律意见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764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持牌律所非证券意见书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647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5149"/>
                </a:solidFill>
                <a:latin typeface="PingFang SC"/>
              </a:defRPr>
            </a:pPr>
            <a:r>
              <a:t>缺少 — 硬 No-Go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194560"/>
            <a:ext cx="10515600" cy="438912"/>
          </a:xfrm>
          <a:prstGeom prst="rect">
            <a:avLst/>
          </a:prstGeom>
          <a:solidFill>
            <a:srgbClr val="2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2677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G3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2677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托管 + 保险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2677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LBMA 金库 + Lloyd's 全险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677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5149"/>
                </a:solidFill>
                <a:latin typeface="PingFang SC"/>
              </a:defRPr>
            </a:pPr>
            <a:r>
              <a:t>缺少 — 硬 No-Go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697480"/>
            <a:ext cx="105156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27706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G4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7706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独立审计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27706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四大季度审计合同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7706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5149"/>
                </a:solidFill>
                <a:latin typeface="PingFang SC"/>
              </a:defRPr>
            </a:pPr>
            <a:r>
              <a:t>缺少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200400"/>
            <a:ext cx="10515600" cy="438912"/>
          </a:xfrm>
          <a:prstGeom prst="rect">
            <a:avLst/>
          </a:prstGeom>
          <a:solidFill>
            <a:srgbClr val="2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2735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G5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2735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储备缓冲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273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100% 黄金 + 3 月现金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2735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5149"/>
                </a:solidFill>
                <a:latin typeface="PingFang SC"/>
              </a:defRPr>
            </a:pPr>
            <a:r>
              <a:t>缺少 — 硬 No-Go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3703320"/>
            <a:ext cx="105156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37764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G6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37764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压力测试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377647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最坏情景不破产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7764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1D"/>
                </a:solidFill>
                <a:latin typeface="PingFang SC"/>
              </a:defRPr>
            </a:pPr>
            <a:r>
              <a:t>待验证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206240"/>
            <a:ext cx="105156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27939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G7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54480" y="4279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赎回测试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42793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端到端流程通过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279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1D"/>
                </a:solidFill>
                <a:latin typeface="PingFang SC"/>
              </a:defRPr>
            </a:pPr>
            <a:r>
              <a:t>待测试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709160"/>
            <a:ext cx="105156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478231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G8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54480" y="4782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KYC/AML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47823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第三方集成就绪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7823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1D"/>
                </a:solidFill>
                <a:latin typeface="PingFang SC"/>
              </a:defRPr>
            </a:pPr>
            <a:r>
              <a:t>待集成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5212080"/>
            <a:ext cx="105156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528523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G9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54480" y="52852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合约审计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28523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2+ 家独立审计 + 公开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2852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1D"/>
                </a:solidFill>
                <a:latin typeface="PingFang SC"/>
              </a:defRPr>
            </a:pPr>
            <a:r>
              <a:t>待审计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" y="5715000"/>
            <a:ext cx="1051560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78815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G10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54480" y="5788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营销合规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57881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无稳赚/不亏等表述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5788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2991D"/>
                </a:solidFill>
                <a:latin typeface="PingFang SC"/>
              </a:defRPr>
            </a:pPr>
            <a:r>
              <a:t>待审核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6263640"/>
            <a:ext cx="10515600" cy="365760"/>
          </a:xfrm>
          <a:prstGeom prst="rect">
            <a:avLst/>
          </a:prstGeom>
          <a:solidFill>
            <a:srgbClr val="2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62910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5149"/>
                </a:solidFill>
                <a:latin typeface="PingFang SC"/>
              </a:defRPr>
            </a:pPr>
            <a:r>
              <a:t>当前状态: 全部 G2/G3/G5 缺失 → 硬 No-Go。需在实际启动前逐一验证。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上线路线图: 沙盒 → 试点 → 公开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5156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325880"/>
            <a:ext cx="548640" cy="54864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D1117"/>
                </a:solidFill>
              </a:defRPr>
            </a:pPr>
            <a: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234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PingFang SC"/>
              </a:defRPr>
            </a:pPr>
            <a:r>
              <a:t>沙盒测试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5727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时间: 3-6 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34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Go条件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508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G1+G3+G5+G8+G9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234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508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白名单用户 · 模拟黄金 · $1M 上限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377440"/>
            <a:ext cx="105156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2514600"/>
            <a:ext cx="548640" cy="54864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D1117"/>
                </a:solidFill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423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843"/>
                </a:solidFill>
                <a:latin typeface="PingFang SC"/>
              </a:defRPr>
            </a:pPr>
            <a:r>
              <a:t>受限试点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7614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时间: 6-12 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Go条件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697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全部 G1-G10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范围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697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单一法域 · KYC 用户 · $50M 上限 · 限额赎回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566160"/>
            <a:ext cx="105156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3703320"/>
            <a:ext cx="548640" cy="54864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D1117"/>
                </a:solidFill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611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PingFang SC"/>
              </a:defRPr>
            </a:pPr>
            <a:r>
              <a:t>拓展试点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9502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时间: 12-18 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Go条件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3886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阶段1 运营6月无事故 + 3月盈利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611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范围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886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2-3 法域 · 解除赎回限制 · 开放 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754880"/>
            <a:ext cx="10515600" cy="1051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" y="4892040"/>
            <a:ext cx="548640" cy="54864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D1117"/>
                </a:solidFill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800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FB950"/>
                </a:solidFill>
                <a:latin typeface="PingFang SC"/>
              </a:defRPr>
            </a:pPr>
            <a:r>
              <a:t>公开发布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1389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时间: 18+ 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Go条件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074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完整牌照 + 12月 100% 储备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949E"/>
                </a:solidFill>
                <a:latin typeface="PingFang SC"/>
              </a:defRPr>
            </a:pPr>
            <a:r>
              <a:t>范围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074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6EDF3"/>
                </a:solidFill>
                <a:latin typeface="PingFang SC"/>
              </a:defRPr>
            </a:pPr>
            <a:r>
              <a:t>全球 · 无上限 · 完整功能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85149"/>
                </a:solidFill>
                <a:latin typeface="PingFang SC"/>
              </a:defRPr>
            </a:pPr>
            <a:r>
              <a:t>我们必须告诉你的风险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303520" cy="114300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61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49"/>
                </a:solidFill>
                <a:latin typeface="PingFang SC"/>
              </a:defRPr>
            </a:pPr>
            <a:r>
              <a:t>代币通胀风险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奖励 82-95% 来自新铸币。交易量增长落后时代币贬值，奖励购买力下降。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188720"/>
            <a:ext cx="5303520" cy="114300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26187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49"/>
                </a:solidFill>
                <a:latin typeface="PingFang SC"/>
              </a:defRPr>
            </a:pPr>
            <a:r>
              <a:t>流动性风险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002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大规模赎回可能触发限流。极端情况下赎回时间不确定。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468880"/>
            <a:ext cx="5303520" cy="114300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42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49"/>
                </a:solidFill>
                <a:latin typeface="PingFang SC"/>
              </a:defRPr>
            </a:pPr>
            <a:r>
              <a:t>监管风险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可能在某些法域被归类为证券。监管变化可能导致业务暂停或退出。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468880"/>
            <a:ext cx="5303520" cy="114300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54203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49"/>
                </a:solidFill>
                <a:latin typeface="PingFang SC"/>
              </a:defRPr>
            </a:pPr>
            <a:r>
              <a:t>智能合约风险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8036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代码漏洞可能导致资金损失。虽有审计和保险，但无 100% 保证。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5303520" cy="114300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49"/>
                </a:solidFill>
                <a:latin typeface="PingFang SC"/>
              </a:defRPr>
            </a:pPr>
            <a:r>
              <a:t>托管风险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1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实物黄金可能因欺诈/盗窃/不可抗力损失。保险覆盖但理赔程序不确定。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749039"/>
            <a:ext cx="5303520" cy="114300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382219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49"/>
                </a:solidFill>
                <a:latin typeface="PingFang SC"/>
              </a:defRPr>
            </a:pPr>
            <a:r>
              <a:t>市场风险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16051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金价本身可涨可跌。奖励锁仓期间无法退出。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029199"/>
            <a:ext cx="5303520" cy="114300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0235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49"/>
                </a:solidFill>
                <a:latin typeface="PingFang SC"/>
              </a:defRPr>
            </a:pPr>
            <a:r>
              <a:t>盈亏风险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44067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交易亏损可能超过补偿。燃烧矿工不能保证净盈利。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5029199"/>
            <a:ext cx="5303520" cy="114300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5102351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49"/>
                </a:solidFill>
                <a:latin typeface="PingFang SC"/>
              </a:defRPr>
            </a:pPr>
            <a:r>
              <a:t>团队风险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440679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核心成员离职可能影响开发进度。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6400800"/>
            <a:ext cx="10515600" cy="32004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以上风险可能导致部分或全部投资损失。历史数据和模型推演不代表未来表现。请在充分理解后自行判断。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竞争格局 &amp; 差异化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38404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070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EDF3"/>
                </a:solidFill>
                <a:latin typeface="PingFang S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2743200" y="12070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pGOLD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2070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PAXG / XAUT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2070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Gold ETF (GLD)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20700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6EDF3"/>
                </a:solidFill>
                <a:latin typeface="PingFang SC"/>
              </a:defRPr>
            </a:pPr>
            <a:r>
              <a:t>算法稳定币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27632"/>
            <a:ext cx="112471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007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锚定资产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7007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PingFang SC"/>
              </a:defRPr>
            </a:pPr>
            <a:r>
              <a:t>实物黄金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007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实物黄金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007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实物黄金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7007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无 / 混合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30552"/>
            <a:ext cx="112471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2037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储备透明度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2037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PingFang SC"/>
              </a:defRPr>
            </a:pPr>
            <a:r>
              <a:t>每日 Merkle 证明 + 季度审计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2037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月度审计报告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2037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每日公布持仓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2037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33472"/>
            <a:ext cx="112471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7066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交易时间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27066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PingFang SC"/>
              </a:defRPr>
            </a:pPr>
            <a:r>
              <a:t>7x24 链上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7066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7x24 链上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7066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交易所时间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7066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7x24 链上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136392"/>
            <a:ext cx="112471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20954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交易激励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32095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PingFang SC"/>
              </a:defRPr>
            </a:pPr>
            <a:r>
              <a:t>四轨激励 + 利润瀑布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2095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32095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320954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套利驱动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639312"/>
            <a:ext cx="112471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71246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反庞氏架构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37124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PingFang SC"/>
              </a:defRPr>
            </a:pPr>
            <a:r>
              <a:t>5 账户隔离 + 安全阀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7124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7124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受 ETF 监管保护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71246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多数已崩溃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142232"/>
            <a:ext cx="112471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21538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手续费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0" y="42153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PingFang SC"/>
              </a:defRPr>
            </a:pPr>
            <a:r>
              <a:t>0.5%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2153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铸造/销毁费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2153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管理费 0.4%/年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42153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取决于 DEX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645152"/>
            <a:ext cx="112471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471830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目标用户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286000" y="47183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PingFang SC"/>
              </a:defRPr>
            </a:pPr>
            <a:r>
              <a:t>活跃交易者 + 商家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47183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持有者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7183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机构投资者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0" y="471830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投机者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148072"/>
            <a:ext cx="11247120" cy="438912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221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关键风险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6000" y="52212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4A843"/>
                </a:solidFill>
                <a:latin typeface="PingFang SC"/>
              </a:defRPr>
            </a:pPr>
            <a:r>
              <a:t>交易量依赖、通胀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0" y="52212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对手方风险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52212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管理费用侵蚀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52212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6EDF3"/>
                </a:solidFill>
                <a:latin typeface="PingFang SC"/>
              </a:defRPr>
            </a:pPr>
            <a:r>
              <a:t>历史证明不可持续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代币经济 — 核心参数表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pGOLD 锚定价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1 pGOLD = 1 克黄金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$85/g (随国际金价浮动)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18872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交易手续费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0.5%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唯一真实收入来源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234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月榜奖励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508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300% × 当月存入量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1783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7 年线性释放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9456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季榜奖励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500% × 当季存入量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788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7 年线性释放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19456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年榜奖励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1000% × 当年存入量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788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7 年线性释放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19456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递进覆盖硬顶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1000%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788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年吸收季吸收月，不叠加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20040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燃烧补偿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520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300% × 亏损额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794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3 年线性释放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320040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持有分红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520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3.5% 年化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3794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来源: 协议净收入 (利润瀑布第5层)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320040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黄金托管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520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LBMA 认证金库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794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费用: 0.12% AUM/年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20624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保险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4526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Lloyd's 全险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4800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费用: 0.15% AUM/年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420624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储备证明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4526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每日 Merkle 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40" y="4800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季度四大审计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4206240"/>
            <a:ext cx="356616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532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2991D"/>
                </a:solidFill>
                <a:latin typeface="PingFang SC"/>
              </a:defRPr>
            </a:pPr>
            <a:r>
              <a:t>反庞氏约束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4526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5 账户法律隔离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75320" y="4800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8B949E"/>
                </a:solidFill>
                <a:latin typeface="PingFang SC"/>
              </a:defRPr>
            </a:pPr>
            <a:r>
              <a:t>不可挪用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执行团队 &amp; 关键角色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PingFang SC"/>
              </a:defRPr>
            </a:pPr>
            <a:r>
              <a:t>核心 20 人团队 (规划)，年成本 ~$3.5M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645920"/>
            <a:ext cx="91440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7007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CEO / 创始人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7007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战略、融资、监管沟通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17007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x1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148840"/>
            <a:ext cx="91440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2037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037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智能合约架构、安全、技术栈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20370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x1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651760"/>
            <a:ext cx="91440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27066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首席经济学家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066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代币经济模型、压力测试、参数调优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27066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x1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3154680"/>
            <a:ext cx="91440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2095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合规官 (CCO)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2095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多法域牌照、AML/KYC、监管报告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32095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x2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657600"/>
            <a:ext cx="91440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37124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安全工程师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1246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合约审计、渗透测试、应急响应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371246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x3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4160520"/>
            <a:ext cx="91440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42153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后端 + 前端工程师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21538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交易引擎、API、Web/App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42153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x5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4663440"/>
            <a:ext cx="91440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471830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量化交易 / 做市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7183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流动性管理、风险对冲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471830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x2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5166360"/>
            <a:ext cx="91440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" y="52212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运营 + 客服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2212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用户支持、社区管理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52212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x3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5669280"/>
            <a:ext cx="9144000" cy="411480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554480" y="57241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EDF3"/>
                </a:solidFill>
                <a:latin typeface="PingFang SC"/>
              </a:defRPr>
            </a:pPr>
            <a:r>
              <a:t>法务 + 审计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72414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合同、知识产权、外部审计协调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572414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843"/>
                </a:solidFill>
                <a:latin typeface="PingFang SC"/>
              </a:defRPr>
            </a:pPr>
            <a:r>
              <a:t>x2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2991D"/>
                </a:solidFill>
                <a:latin typeface="PingFang SC"/>
              </a:defRPr>
            </a:pPr>
            <a:r>
              <a:t>当前状态: 核心模型已完成。团队招聘、法律意见、托管协议、审计合同待启动。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本轮融资 &amp; 资金用途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394960" cy="53035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161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117"/>
                </a:solidFill>
                <a:latin typeface="PingFang SC"/>
              </a:defRPr>
            </a:pPr>
            <a:r>
              <a:t>种子轮 (当前): $3-5M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- 法律意见 (多法域): $500K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182880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- 托管 + 保险启动: $300K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06040"/>
            <a:ext cx="182880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- 沙盒开发 + 审计: $800K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00400"/>
            <a:ext cx="182880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- 团队 12 月: $1.5M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94760"/>
            <a:ext cx="182880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- 初始储备缓冲: $500K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89120"/>
            <a:ext cx="182880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- 应急储备: $400K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983480"/>
            <a:ext cx="182880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188720"/>
            <a:ext cx="5394960" cy="5303520"/>
          </a:xfrm>
          <a:prstGeom prst="rect">
            <a:avLst/>
          </a:prstGeom>
          <a:solidFill>
            <a:srgbClr val="161B22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188720"/>
            <a:ext cx="5394960" cy="4572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21615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D1117"/>
                </a:solidFill>
                <a:latin typeface="PingFang SC"/>
              </a:defRPr>
            </a:pPr>
            <a:r>
              <a:t>A 轮 (9-12 月后): $10-20M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783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- 初始黄金储备 (1-3 吨): $8.5-25.5M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011680"/>
            <a:ext cx="182880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377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- 多法域牌照申请: $1M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606040"/>
            <a:ext cx="182880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971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- 做市流动性种子: $2M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3200400"/>
            <a:ext cx="182880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5661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- 营销启动 + 商家拓展: $1.5M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794760"/>
            <a:ext cx="182880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1605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EDF3"/>
                </a:solidFill>
                <a:latin typeface="PingFang SC"/>
              </a:defRPr>
            </a:pPr>
            <a:r>
              <a:t>- 团队扩充至 30 人: $2M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4389120"/>
            <a:ext cx="1828800" cy="18288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D4A843"/>
                </a:solidFill>
                <a:latin typeface="PingFang SC"/>
              </a:defRPr>
            </a:pPr>
            <a:r>
              <a:t>总结: 这个项目是什么，不是什么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FB950"/>
                </a:solidFill>
                <a:latin typeface="PingFang SC"/>
              </a:defRPr>
            </a:pPr>
            <a:r>
              <a:t>pGOLD 是什么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[OK]  一个黄金锚定的链上交易协议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[OK]  实物黄金 1:1 支撑，可赎回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[OK]  每日 Merkle 储备证明 + 季度四大审计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[OK]  5 账户法律隔离，反挪用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[OK]  利润瀑布: 先保储备再分红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[OK]  自动安全阀: 不达标暂停奖励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754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[OK]  诚实披露: 奖励 82-95% 来自增发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57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[OK]  数学自洽: 所有假设可验证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solidFill>
            <a:srgbClr val="1A0A0A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5149"/>
                </a:solidFill>
                <a:latin typeface="PingFang SC"/>
              </a:defRPr>
            </a:pPr>
            <a:r>
              <a:t>pGOLD 不是什么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[X]  不是庞氏 / 资金盘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240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[X]  不是"稳赚不赔"的投资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432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[X]  不是用后来者钱付前人息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2461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[X]  不承诺代币必然升值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74903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[X]  不保证分红必然发放 (第5层)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251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[X]  不是纯"代码即法律" (有人工安全阀)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754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[X]  不绕过任何监管牌照要求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5257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6EDF3"/>
                </a:solidFill>
                <a:latin typeface="PingFang SC"/>
              </a:defRPr>
            </a:pPr>
            <a:r>
              <a:t>[X]  不靠不现实交易量修饰模型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pGOLD V3 |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949E"/>
                </a:solidFill>
                <a:latin typeface="PingFang SC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D4A843"/>
                </a:solidFill>
                <a:latin typeface="PingFang SC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PingFang SC"/>
              </a:defRPr>
            </a:pPr>
            <a:r>
              <a:t>本路演材料基于 pGOLD V3 可审计数学模型生成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949E"/>
                </a:solidFill>
                <a:latin typeface="PingFang SC"/>
              </a:defRPr>
            </a:pPr>
            <a:r>
              <a:t>所有数据和假设详见: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D4A843"/>
                </a:solidFill>
                <a:latin typeface="PingFang SC"/>
              </a:defRPr>
            </a:pPr>
            <a:r>
              <a:t>financial_model_v3.html  |  feasibility_analysis_v3.html  |  risk_and_go_live_report.html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本材料不构成任何形式的投资建议。所有前瞻性陈述受假设条件约束。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B949E"/>
                </a:solidFill>
                <a:latin typeface="PingFang SC"/>
              </a:defRPr>
            </a:pPr>
            <a:r>
              <a:t>Version 3.0  |  June 2026  |  Confidential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50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FFD700"/>
                </a:solidFill>
              </a:rPr>
              <a:t>E 轨 · 创世池 ICO</a:t>
            </a:r>
            <a:r>
              <a:rPr sz="1600" b="0">
                <a:solidFill>
                  <a:srgbClr val="AAAAAA"/>
                </a:solidFill>
              </a:rPr>
              <a:t>  ——  感谢最早来的人承担了最大的不确定性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0332720" cy="32004"/>
          </a:xfrm>
          <a:prstGeom prst="rect">
            <a:avLst/>
          </a:prstGeom>
          <a:solidFill>
            <a:srgbClr val="BA75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4846320" cy="5394960"/>
          </a:xfrm>
          <a:prstGeom prst="rect">
            <a:avLst/>
          </a:prstGeom>
          <a:solidFill>
            <a:srgbClr val="120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4480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A7517"/>
                </a:solidFill>
              </a:rPr>
              <a:t>ICO 机制</a:t>
            </a:r>
          </a:p>
          <a:p>
            <a:pPr algn="l"/>
            <a:r>
              <a:rPr sz="6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FFFFFF"/>
                </a:solidFill>
              </a:rPr>
              <a:t>① 用户存入 USDC</a:t>
            </a:r>
          </a:p>
          <a:p>
            <a:pPr algn="l"/>
            <a:r>
              <a:rPr sz="1200" b="0">
                <a:solidFill>
                  <a:srgbClr val="AAAAAA"/>
                </a:solidFill>
              </a:rPr>
              <a:t>→ 协议全额买入 PAXG（真实黄金）</a:t>
            </a:r>
          </a:p>
          <a:p>
            <a:pPr algn="l"/>
            <a:r>
              <a:rPr sz="1200" b="0">
                <a:solidFill>
                  <a:srgbClr val="4ECB71"/>
                </a:solidFill>
              </a:rPr>
              <a:t>→ 用户得到 1:1 完全背书的 pGOLD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FFFFFF"/>
                </a:solidFill>
              </a:rPr>
              <a:t>② 创世池额外赠送</a:t>
            </a:r>
          </a:p>
          <a:p>
            <a:pPr algn="l"/>
            <a:r>
              <a:rPr sz="1200" b="0">
                <a:solidFill>
                  <a:srgbClr val="AAAAAA"/>
                </a:solidFill>
              </a:rPr>
              <a:t>→ 200,000 pGOLD 预铸总池</a:t>
            </a:r>
          </a:p>
          <a:p>
            <a:pPr algn="l"/>
            <a:r>
              <a:rPr sz="1200" b="0">
                <a:solidFill>
                  <a:srgbClr val="AAAAAA"/>
                </a:solidFill>
              </a:rPr>
              <a:t>→ 按阶梯权重 × 存入量分配</a:t>
            </a:r>
          </a:p>
          <a:p>
            <a:pPr algn="l"/>
            <a:r>
              <a:rPr sz="1200" b="0">
                <a:solidFill>
                  <a:srgbClr val="4ECB71"/>
                </a:solidFill>
              </a:rPr>
              <a:t>→ 3 年季度线性释放（12期）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FFFFFF"/>
                </a:solidFill>
              </a:rPr>
              <a:t>③ 本金永远不亏</a:t>
            </a:r>
          </a:p>
          <a:p>
            <a:pPr algn="l"/>
            <a:r>
              <a:rPr sz="1200" b="0">
                <a:solidFill>
                  <a:srgbClr val="AAAAAA"/>
                </a:solidFill>
              </a:rPr>
              <a:t>→ 协议死了: 1:1 pGOLD仍有真黄金背书</a:t>
            </a:r>
          </a:p>
          <a:p>
            <a:pPr algn="l"/>
            <a:r>
              <a:rPr sz="1200" b="0">
                <a:solidFill>
                  <a:srgbClr val="4ECB71"/>
                </a:solidFill>
              </a:rPr>
              <a:t>→ 协议活了: 创世池份额是纯赚</a:t>
            </a:r>
          </a:p>
          <a:p>
            <a:pPr algn="l"/>
            <a:r>
              <a:rPr sz="400" b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>
                <a:solidFill>
                  <a:srgbClr val="FFB800"/>
                </a:solidFill>
              </a:rPr>
              <a:t>个人硬顶: $85,000 = 1,000 pGOLD</a:t>
            </a:r>
          </a:p>
          <a:p>
            <a:pPr algn="l"/>
            <a:r>
              <a:rPr sz="1000" b="0">
                <a:solidFill>
                  <a:srgbClr val="AAAAAA"/>
                </a:solidFill>
              </a:rPr>
              <a:t>KYC 防止单一地址垄断创世池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4960" y="1005840"/>
            <a:ext cx="5486400" cy="2606040"/>
          </a:xfrm>
          <a:prstGeom prst="rect">
            <a:avLst/>
          </a:prstGeom>
          <a:solidFill>
            <a:srgbClr val="100D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51206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BA7517"/>
                </a:solidFill>
              </a:rPr>
              <a:t>阶梯权重 — 4 次 FOMO 窗口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554480"/>
            <a:ext cx="51206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D700"/>
                </a:solidFill>
              </a:rPr>
              <a:t>D1–30  10x 先驱</a:t>
            </a:r>
            <a:r>
              <a:rPr sz="1000" b="0">
                <a:solidFill>
                  <a:srgbClr val="AAAAAA"/>
                </a:solidFill>
              </a:rPr>
              <a:t>  承担最大不确定性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2029968"/>
            <a:ext cx="51206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B800"/>
                </a:solidFill>
              </a:rPr>
              <a:t>D31–60   7x 早期</a:t>
            </a:r>
            <a:r>
              <a:rPr sz="1000" b="0">
                <a:solidFill>
                  <a:srgbClr val="AAAAAA"/>
                </a:solidFill>
              </a:rPr>
              <a:t>  看到了但犹豫了一阵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505456"/>
            <a:ext cx="51206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4ECB71"/>
                </a:solidFill>
              </a:rPr>
              <a:t>D61–90   4x 建设</a:t>
            </a:r>
            <a:r>
              <a:rPr sz="1000" b="0">
                <a:solidFill>
                  <a:srgbClr val="AAAAAA"/>
                </a:solidFill>
              </a:rPr>
              <a:t>  生态已开始运转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2980944"/>
            <a:ext cx="51206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AAAAA"/>
                </a:solidFill>
              </a:rPr>
              <a:t>D91–180   2x 支持</a:t>
            </a:r>
            <a:r>
              <a:rPr sz="1000" b="0">
                <a:solidFill>
                  <a:srgbClr val="AAAAAA"/>
                </a:solidFill>
              </a:rPr>
              <a:t>  末班车，仍享折扣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3749039"/>
            <a:ext cx="5486400" cy="2651760"/>
          </a:xfrm>
          <a:prstGeom prst="rect">
            <a:avLst/>
          </a:prstGeom>
          <a:solidFill>
            <a:srgbClr val="100D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38404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</a:rPr>
              <a:t>存 $85K — 有效成本 vs 完全覆盖时持有价值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4251960"/>
            <a:ext cx="51206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BA7517"/>
                </a:solidFill>
              </a:rPr>
              <a:t>档位        </a:t>
            </a:r>
            <a:r>
              <a:rPr sz="1100" b="1">
                <a:solidFill>
                  <a:srgbClr val="BA7517"/>
                </a:solidFill>
              </a:rPr>
              <a:t>  有效成本          </a:t>
            </a:r>
            <a:r>
              <a:rPr sz="1100" b="1">
                <a:solidFill>
                  <a:srgbClr val="BA7517"/>
                </a:solidFill>
              </a:rPr>
              <a:t>  完全覆盖时价值         </a:t>
            </a:r>
            <a:r>
              <a:rPr sz="1100" b="1">
                <a:solidFill>
                  <a:srgbClr val="BA7517"/>
                </a:solidFill>
              </a:rPr>
              <a:t>  回报倍数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4572000"/>
            <a:ext cx="51206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D1 10x    </a:t>
            </a:r>
            <a:r>
              <a:rPr sz="1000" b="0">
                <a:solidFill>
                  <a:srgbClr val="FFFFFF"/>
                </a:solidFill>
              </a:rPr>
              <a:t>  $25.0/g       </a:t>
            </a:r>
            <a:r>
              <a:rPr sz="1000" b="0">
                <a:solidFill>
                  <a:srgbClr val="FFFFFF"/>
                </a:solidFill>
              </a:rPr>
              <a:t>  $289,000        </a:t>
            </a:r>
            <a:r>
              <a:rPr sz="1000" b="0">
                <a:solidFill>
                  <a:srgbClr val="4ECB71"/>
                </a:solidFill>
              </a:rPr>
              <a:t>  ×3.4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4892040"/>
            <a:ext cx="51206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D31 7x    </a:t>
            </a:r>
            <a:r>
              <a:rPr sz="1000" b="0">
                <a:solidFill>
                  <a:srgbClr val="FFFFFF"/>
                </a:solidFill>
              </a:rPr>
              <a:t>  $31.7/g       </a:t>
            </a:r>
            <a:r>
              <a:rPr sz="1000" b="0">
                <a:solidFill>
                  <a:srgbClr val="FFFFFF"/>
                </a:solidFill>
              </a:rPr>
              <a:t>  $226,100        </a:t>
            </a:r>
            <a:r>
              <a:rPr sz="1000" b="0">
                <a:solidFill>
                  <a:srgbClr val="4ECB71"/>
                </a:solidFill>
              </a:rPr>
              <a:t>  ×2.7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5212080"/>
            <a:ext cx="51206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D61 4x    </a:t>
            </a:r>
            <a:r>
              <a:rPr sz="1000" b="0">
                <a:solidFill>
                  <a:srgbClr val="FFFFFF"/>
                </a:solidFill>
              </a:rPr>
              <a:t>  $43.4/g       </a:t>
            </a:r>
            <a:r>
              <a:rPr sz="1000" b="0">
                <a:solidFill>
                  <a:srgbClr val="FFFFFF"/>
                </a:solidFill>
              </a:rPr>
              <a:t>  $166,600        </a:t>
            </a:r>
            <a:r>
              <a:rPr sz="1000" b="0">
                <a:solidFill>
                  <a:srgbClr val="4ECB71"/>
                </a:solidFill>
              </a:rPr>
              <a:t>  ×2.0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5532120"/>
            <a:ext cx="51206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D91 2x    </a:t>
            </a:r>
            <a:r>
              <a:rPr sz="1000" b="0">
                <a:solidFill>
                  <a:srgbClr val="FFFFFF"/>
                </a:solidFill>
              </a:rPr>
              <a:t>  $57.4/g       </a:t>
            </a:r>
            <a:r>
              <a:rPr sz="1000" b="0">
                <a:solidFill>
                  <a:srgbClr val="FFFFFF"/>
                </a:solidFill>
              </a:rPr>
              <a:t>  $125,800        </a:t>
            </a:r>
            <a:r>
              <a:rPr sz="1000" b="0">
                <a:solidFill>
                  <a:srgbClr val="4ECB71"/>
                </a:solidFill>
              </a:rPr>
              <a:t>  ×1.5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5852160"/>
            <a:ext cx="512064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</a:rPr>
              <a:t>上线后       </a:t>
            </a:r>
            <a:r>
              <a:rPr sz="1000" b="0">
                <a:solidFill>
                  <a:srgbClr val="FFFFFF"/>
                </a:solidFill>
              </a:rPr>
              <a:t>  $85.0/g       </a:t>
            </a:r>
            <a:r>
              <a:rPr sz="1000" b="0">
                <a:solidFill>
                  <a:srgbClr val="FFFFFF"/>
                </a:solidFill>
              </a:rPr>
              <a:t>  $85,000         </a:t>
            </a:r>
            <a:r>
              <a:rPr sz="1000" b="0">
                <a:solidFill>
                  <a:srgbClr val="AAAAAA"/>
                </a:solidFill>
              </a:rPr>
              <a:t>  ×1.0  基准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89788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与A/B/C/D轨完全独立叠加  |  创世窗口关闭后进入者按能力平等竞争  |  E轨哲学: 谢谢你最早来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5989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AAAAAA"/>
                </a:solidFill>
              </a:rPr>
              <a:t>5.5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98932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AAAAA"/>
                </a:solidFill>
              </a:rPr>
              <a:t>pGOLD V4 |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